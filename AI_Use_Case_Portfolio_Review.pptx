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46"/>
              </a:solidFill>
              <a:effectLst/>
            </c:spPr>
          </c:dPt>
          <c:dPt>
            <c:idx val="1"/>
            <c:bubble3D val="0"/>
            <c:spPr>
              <a:solidFill>
                <a:srgbClr val="1B5E8C"/>
              </a:solidFill>
              <a:effectLst/>
            </c:spPr>
          </c:dPt>
          <c:dPt>
            <c:idx val="2"/>
            <c:bubble3D val="0"/>
            <c:spPr>
              <a:solidFill>
                <a:srgbClr val="C77700"/>
              </a:solidFill>
              <a:effectLst/>
            </c:spPr>
          </c:dPt>
          <c:dPt>
            <c:idx val="3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Ready to progress</c:v>
                </c:pt>
                <c:pt idx="1">
                  <c:v>Strategic / foundational</c:v>
                </c:pt>
                <c:pt idx="2">
                  <c:v>Blocked / dependent</c:v>
                </c:pt>
                <c:pt idx="3">
                  <c:v>Needs scoping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7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F4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3246120" cy="384048"/>
          </a:xfrm>
          <a:prstGeom prst="roundRect">
            <a:avLst>
              <a:gd name="adj" fmla="val 19048"/>
            </a:avLst>
          </a:prstGeom>
          <a:solidFill>
            <a:srgbClr val="2E7D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Alternatives Operations — Prioritisation &amp; Roadmap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use cases assessed  •  July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6358774"/>
            <a:ext cx="1051560" cy="435218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/>
        </p:spPr>
      </p:sp>
      <p:pic>
        <p:nvPicPr>
          <p:cNvPr id="8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AI use cases identified across TA, FA, MO Operations and Data Analytics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417320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/>
        </p:spPr>
      </p:sp>
      <p:sp>
        <p:nvSpPr>
          <p:cNvPr id="6" name="Shape 3"/>
          <p:cNvSpPr/>
          <p:nvPr/>
        </p:nvSpPr>
        <p:spPr>
          <a:xfrm>
            <a:off x="5760720" y="1655064"/>
            <a:ext cx="457200" cy="45720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655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1527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progress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183794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scope, tangible manual effort, no external blocker.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2478024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5760720" y="2715768"/>
            <a:ext cx="457200" cy="457200"/>
          </a:xfrm>
          <a:prstGeom prst="ellipse">
            <a:avLst/>
          </a:prstGeom>
          <a:solidFill>
            <a:srgbClr val="1B5E8C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/ foundational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9864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potential impact; larger scope or cross-system dependency.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3538728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/>
        </p:spPr>
      </p:sp>
      <p:sp>
        <p:nvSpPr>
          <p:cNvPr id="16" name="Shape 13"/>
          <p:cNvSpPr/>
          <p:nvPr/>
        </p:nvSpPr>
        <p:spPr>
          <a:xfrm>
            <a:off x="5760720" y="3776472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364845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/ dependent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95935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gated by a Group or cross-functional initiative.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4599432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/>
        </p:spPr>
      </p:sp>
      <p:sp>
        <p:nvSpPr>
          <p:cNvPr id="21" name="Shape 18"/>
          <p:cNvSpPr/>
          <p:nvPr/>
        </p:nvSpPr>
        <p:spPr>
          <a:xfrm>
            <a:off x="5760720" y="4837176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0" y="47091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scoping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0" y="502005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detail captured yet to assess impact or effort.</a:t>
            </a:r>
            <a:endParaRPr lang="en-US" sz="1000" dirty="0"/>
          </a:p>
        </p:txBody>
      </p:sp>
      <p:pic>
        <p:nvPicPr>
          <p:cNvPr id="25" name="Image 0" descr="/home/claude/deck/bnp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These Were Prioritised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log captured rich narrative detail but no explicit priority or impact rating — this view was derived for discussion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 &amp; pain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current process explicitly manual, repetitive, error-prone, or quantified in FTE / time terms?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5E8C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of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problem and proposed approach well-defined, or still 'more detail required'?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0" y="15544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777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delivery rely on a Group initiative, another platform rollout, or a non-AI transformation project?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DF1E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caveat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4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first-pass, effort-based read of the workshop log — not a validated business case. Impact has not been quantified for every use case, and several entries (Tier 2 and Tier 4) still need input from their owners before funding or sequencing decisions are made.</a:t>
            </a:r>
            <a:endParaRPr lang="en-US" sz="1150" dirty="0"/>
          </a:p>
        </p:txBody>
      </p:sp>
      <p:pic>
        <p:nvPicPr>
          <p:cNvPr id="19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E7D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Progress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scoped use cases with tangible manual effort today and no external blocker. Strong candidates for near-term business cases.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use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6358774"/>
            <a:ext cx="1051560" cy="435218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/>
        </p:spPr>
      </p:sp>
      <p:pic>
        <p:nvPicPr>
          <p:cNvPr id="8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Ready to Progress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scope  •  Tangible pain today  •  No external blocker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3072" y="41148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2E7D46"/>
          </a:solidFill>
          <a:ln/>
        </p:spPr>
      </p:sp>
      <p:sp>
        <p:nvSpPr>
          <p:cNvPr id="5" name="Text 3"/>
          <p:cNvSpPr/>
          <p:nvPr/>
        </p:nvSpPr>
        <p:spPr>
          <a:xfrm>
            <a:off x="10863072" y="4114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3E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Inbox Management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 •  Owner: Unassigned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daily email volume handled manually regardless of complexity; much of it repetitive and routine.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658368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triage and drafted responses for routine queries not already covered by Hobart / Smart Query Manager.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58368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Time-tracking calculator underway to build the business case.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254496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3EA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77456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Invoice Payment Processing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Operations  •  Owner: Steve Smyth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55664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manual, multi-step flow: email intake, Neolink entry, Geneva booking, NAV Control Pack, client confirmation.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455664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LLM to extract invoice data, validate against ASL, populate Neolink / Geneva, and draft client confirmations.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455664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transversal project — phased rollout recommended.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14223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3E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1422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410565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Callback Scripts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443484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8368" y="470916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time-consuming generation of security callback questions.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658368" y="531266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callback scripts for security verification.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658368" y="597103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well-defined scope.</a:t>
            </a:r>
            <a:endParaRPr lang="en-US" sz="830" dirty="0"/>
          </a:p>
        </p:txBody>
      </p:sp>
      <p:pic>
        <p:nvPicPr>
          <p:cNvPr id="30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B5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&amp; Foundational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potential impact, but larger in scope — multi-system builds, cross-use-case dependencies, or platform rollouts still in flight.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use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6358774"/>
            <a:ext cx="1051560" cy="435218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/>
        </p:spPr>
      </p:sp>
      <p:pic>
        <p:nvPicPr>
          <p:cNvPr id="8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Strategic &amp; Foundational (1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scope or foundational for other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3072" y="41148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1B5E8C"/>
          </a:solidFill>
          <a:ln/>
        </p:spPr>
      </p:sp>
      <p:sp>
        <p:nvSpPr>
          <p:cNvPr id="5" name="Text 3"/>
          <p:cNvSpPr/>
          <p:nvPr/>
        </p:nvSpPr>
        <p:spPr>
          <a:xfrm>
            <a:off x="10863072" y="4114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0F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Analytical Reporting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 •  Owner: Sum Luk / Colin Gardiner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AML, client and internal reporting — extraction, consolidation and formatting are manual and error-prone.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658368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data extracts, consolidation and analytical rules (pivots, anomaly detection), producing draft reports for human review.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58368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a central data repository (UC-006) and HOBART rollout.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254496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0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77456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Investor On-Boarding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55664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data entry and AML review for new investors — ~1.3 FTE identified in application-form entry alone.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455664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extraction from onboarding documents into NTAS as an interim step ahead of Fenergo.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455664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scope depends on Fenergo / Doc Factory rollout, not yet defined.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14223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0F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1422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410565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 / Data Warehouse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443484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8368" y="470916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TA, FA, Custody and MO data are fragmented, hampering streamlined client and board reporting.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658368" y="531266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data warehouse / lake aggregating data across systems — foundational for UC-002 and other reporting use cases.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658368" y="597103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dependency for several other use cases.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254496" y="397764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9088" y="414223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0F7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41422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77456" y="410565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Data Uploads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55664" y="443484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Unassigned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55664" y="470916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entry of static data (bank details, contact changes, etc).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6455664" y="531266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LLM to extract and structure data from source documents ahead of upload.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6455664" y="597103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a specialised OCR tool (possibly Doc Factory).</a:t>
            </a:r>
            <a:endParaRPr lang="en-US" sz="830" dirty="0"/>
          </a:p>
        </p:txBody>
      </p:sp>
      <p:pic>
        <p:nvPicPr>
          <p:cNvPr id="38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Strategic &amp; Foundational (2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scope or foundational for other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3072" y="41148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1B5E8C"/>
          </a:solidFill>
          <a:ln/>
        </p:spPr>
      </p:sp>
      <p:sp>
        <p:nvSpPr>
          <p:cNvPr id="5" name="Text 3"/>
          <p:cNvSpPr/>
          <p:nvPr/>
        </p:nvSpPr>
        <p:spPr>
          <a:xfrm>
            <a:off x="10863072" y="4114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0F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Triage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 of emails and documents in Combo &amp; NTAS STP screens to route to the correct queue.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658368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LLM-assisted triage as an interim step ahead of Doc Factory rollout in Combo.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58368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Combo Doc Factory roadmap and HFS scope.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254496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0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77456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Setup Automation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55664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entry of fund and investor data during new fund onboarding.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455664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Doc Factory to read prospectus and application docs, extract and load data into Combo and NTAS.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455664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project; depends on Fenergo / Doc Factory direction.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14223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7F0F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1422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410565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Reporting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443484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8368" y="470916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time-consuming production of investor reporting (K1 distributions, audited financials).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658368" y="531266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defined.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658368" y="597103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Low confidence — </a:t>
            </a:r>
            <a:pPr indent="0" marL="0">
              <a:buNone/>
            </a:pPr>
            <a:r>
              <a:rPr lang="en-US" sz="83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— proposed approach still to be scoped.</a:t>
            </a:r>
            <a:endParaRPr lang="en-US" sz="830" dirty="0"/>
          </a:p>
        </p:txBody>
      </p:sp>
      <p:pic>
        <p:nvPicPr>
          <p:cNvPr id="30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C777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/ Dependent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gated by a Group AI initiative, a separate platform rollout, a broader non-AI transformation programme, or is confirmed out of AI scope.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use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6358774"/>
            <a:ext cx="1051560" cy="435218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/>
        </p:spPr>
      </p:sp>
      <p:pic>
        <p:nvPicPr>
          <p:cNvPr id="8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Blocked / Dependent (1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for alignment; not independently actionable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3072" y="41148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C77700"/>
          </a:solidFill>
          <a:ln/>
        </p:spPr>
      </p:sp>
      <p:sp>
        <p:nvSpPr>
          <p:cNvPr id="5" name="Text 3"/>
          <p:cNvSpPr/>
          <p:nvPr/>
        </p:nvSpPr>
        <p:spPr>
          <a:xfrm>
            <a:off x="10863072" y="4114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FDF1E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Transcription &amp; Summarisation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Meeting Automation  •  Owner: Sum Luk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meeting minute-taking; APAC need extends to Mandarin / Taiwanese live translation.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658368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Group-wide RECAP initiative (TCM team). Interim quick wins: Teams live captions and a minutes-generation prompt.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58368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solution depends on Group RECAP rollout — monitoring only, not actionable locally.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254496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FDF1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77456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Review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55664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screening and validation of AML data before and after entry to LCM.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455664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validation of AML hits and status.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455664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LCM / KURE rollout.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14223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FDF1E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1422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410565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Reporting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443484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8368" y="470916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monthly client reporting pack creation across TA / FA / MO.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658368" y="531266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 via Power BI as an interim step; being addressed by a cross-functional working group.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658368" y="597103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as a broader standardisation initiative, not a discrete AI use case.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254496" y="397764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9088" y="414223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FDF1E0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41422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77456" y="410565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Payments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55664" y="443484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•  Owner: Kate McDermott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55664" y="470916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investor payment processing.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6455664" y="531266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Transformation initiative with possible AI elements.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6455664" y="597103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outside the AI workstream — track for alignment only.</a:t>
            </a:r>
            <a:endParaRPr lang="en-US" sz="830" dirty="0"/>
          </a:p>
        </p:txBody>
      </p:sp>
      <p:pic>
        <p:nvPicPr>
          <p:cNvPr id="38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Blocked / Dependent (2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for alignment; not independently actionable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3072" y="41148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C77700"/>
          </a:solidFill>
          <a:ln/>
        </p:spPr>
      </p:sp>
      <p:sp>
        <p:nvSpPr>
          <p:cNvPr id="5" name="Text 3"/>
          <p:cNvSpPr/>
          <p:nvPr/>
        </p:nvSpPr>
        <p:spPr>
          <a:xfrm>
            <a:off x="10863072" y="4114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FDF1E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047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453896"/>
            <a:ext cx="44714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Trade File Processing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FA/MO Operations  •  Owner: Ruairi Scullion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05740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SFTP monitoring, trade selection, macro formatting and Neolink upload.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658368" y="26609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intake, trade selection and Neolink upload, up to a final human review and release step.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58368" y="331927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Blocker/Note: </a:t>
            </a:r>
            <a:pPr indent="0" marL="0">
              <a:buNone/>
            </a:pPr>
            <a:r>
              <a:rPr lang="en-US" sz="830" i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confirmed as conventional software development, not an AI/LLM solution — track outside the AI workstream.</a:t>
            </a:r>
            <a:endParaRPr lang="en-US" sz="830" dirty="0"/>
          </a:p>
        </p:txBody>
      </p:sp>
      <p:pic>
        <p:nvPicPr>
          <p:cNvPr id="14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Scoping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in the workshop log but without enough detail yet to assess impact, effort or a proposed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3072" y="41148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10863072" y="4114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/ Link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149840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112471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9656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Response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(—)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not yet captured.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49840" y="194767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EF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49840" y="194767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Scope TBC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4780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247802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Management Reporting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(TA Ops / BCIM)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4780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/ meeting minutes; linked to UC-018.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149840" y="2551176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25511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Scope TBC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026664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815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3081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Screening — Adverse Media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(TA Ops / BCIM)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081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/ web search for screening; linked to UC-012.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49840" y="315468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EFF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9840" y="31546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Scope TBC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6850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36850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Control Reporting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(TA Ops / BCIM)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36850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End-of-day reporting automation; linked to UC-015.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149840" y="3758184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EF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49840" y="375818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Scope TBC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885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2885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Processing Automation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(TA Ops / BCIM)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4288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reconcile / alerting; linked to UC-013.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149840" y="436168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EFF1"/>
          </a:solidFill>
          <a:ln/>
        </p:spPr>
      </p:sp>
      <p:sp>
        <p:nvSpPr>
          <p:cNvPr id="38" name="Text 36"/>
          <p:cNvSpPr/>
          <p:nvPr/>
        </p:nvSpPr>
        <p:spPr>
          <a:xfrm>
            <a:off x="10149840" y="436168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Scope TBC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37360" y="4892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FATCA / CRS Pre-Check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(TA Ops / BCIM)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4892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validation of FATCA/CRS extracts.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149840" y="496519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EFF1"/>
          </a:solidFill>
          <a:ln/>
        </p:spPr>
      </p:sp>
      <p:sp>
        <p:nvSpPr>
          <p:cNvPr id="43" name="Text 41"/>
          <p:cNvSpPr/>
          <p:nvPr/>
        </p:nvSpPr>
        <p:spPr>
          <a:xfrm>
            <a:off x="10149840" y="49651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Scope TBC</a:t>
            </a:r>
            <a:endParaRPr lang="en-US" sz="800" dirty="0"/>
          </a:p>
        </p:txBody>
      </p:sp>
      <p:pic>
        <p:nvPicPr>
          <p:cNvPr id="44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path forward for management sign-off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361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Tier 1 business cases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836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formal business cases for the 3 ready-to-progress use cases (UC-003, UC-004, UC-021) — clear scope, no external blocker.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791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Tier 2 around the data warehouse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0266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UC-006 (Data Warehouse) as the foundational build; it unlocks UC-002 and de-risks several other reporting use cases.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221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Tier 3 dependencies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696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track RECAP, Fenergo, Doc Factory and LCM/KURE rollout dates so blocked use cases can be re-triggered as soon as each platform lands.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9651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owners to close scoping gaps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3126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named owners with providing problem/approach detail for the 6 Tier 4 use cases within the next review cycle.</a:t>
            </a:r>
            <a:endParaRPr lang="en-US" sz="1150" dirty="0"/>
          </a:p>
        </p:txBody>
      </p:sp>
      <p:pic>
        <p:nvPicPr>
          <p:cNvPr id="20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priority adjustments, and sponsor assignment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6358774"/>
            <a:ext cx="1051560" cy="435218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deck/bn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1926"/>
            <a:ext cx="868680" cy="2889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6492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 |  Liquid Alternatives Operations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2026-08-03T16:16:13Z</dcterms:created>
  <dcterms:modified xsi:type="dcterms:W3CDTF">2026-08-03T16:16:13Z</dcterms:modified>
</cp:coreProperties>
</file>