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5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5F45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0"/>
            <a:ext cx="3410712" cy="6858000"/>
          </a:xfrm>
          <a:prstGeom prst="rect">
            <a:avLst/>
          </a:prstGeom>
          <a:solidFill>
            <a:srgbClr val="1A5039"/>
          </a:solidFill>
          <a:ln/>
        </p:spPr>
      </p:sp>
      <p:sp>
        <p:nvSpPr>
          <p:cNvPr id="4" name="Shape 2"/>
          <p:cNvSpPr/>
          <p:nvPr/>
        </p:nvSpPr>
        <p:spPr>
          <a:xfrm>
            <a:off x="9692640" y="-1097280"/>
            <a:ext cx="4114800" cy="4114800"/>
          </a:xfrm>
          <a:prstGeom prst="ellipse">
            <a:avLst/>
          </a:prstGeom>
          <a:solidFill>
            <a:srgbClr val="246B4D"/>
          </a:solidFill>
          <a:ln/>
        </p:spPr>
      </p:sp>
      <p:sp>
        <p:nvSpPr>
          <p:cNvPr id="5" name="Shape 3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246B4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317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BFE0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USE CASE PORTFOLIO REVIEW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7863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 &amp; Feasibility Assessment</a:t>
            </a:r>
            <a:endParaRPr lang="en-US" sz="3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Priority AI Use Cases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40080" y="43434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E0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 · FA · MO Operations · Data Analytics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C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Rana Das, Head of Engineering &amp; AI Strategy – Liquid Alternatives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FC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use cases were logged across TA, FA, MO Operations and Data Analytics. Applying the agreed proceed criteria, 5 are ready to move forward now.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121408" cy="1554480"/>
          </a:xfrm>
          <a:prstGeom prst="rect">
            <a:avLst>
              <a:gd name="adj" fmla="val 3529"/>
            </a:avLst>
          </a:prstGeom>
          <a:solidFill>
            <a:srgbClr val="F4F6F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19385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cases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834640" y="1828800"/>
            <a:ext cx="2121408" cy="1554480"/>
          </a:xfrm>
          <a:prstGeom prst="rect">
            <a:avLst>
              <a:gd name="adj" fmla="val 3529"/>
            </a:avLst>
          </a:prstGeom>
          <a:solidFill>
            <a:srgbClr val="F4F6F4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8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926080" y="2651760"/>
            <a:ext cx="19385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proceed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120640" y="1828800"/>
            <a:ext cx="2121408" cy="1554480"/>
          </a:xfrm>
          <a:prstGeom prst="rect">
            <a:avLst>
              <a:gd name="adj" fmla="val 3529"/>
            </a:avLst>
          </a:prstGeom>
          <a:solidFill>
            <a:srgbClr val="F4F6F4"/>
          </a:solidFill>
          <a:ln/>
        </p:spPr>
      </p:sp>
      <p:sp>
        <p:nvSpPr>
          <p:cNvPr id="11" name="Text 9"/>
          <p:cNvSpPr/>
          <p:nvPr/>
        </p:nvSpPr>
        <p:spPr>
          <a:xfrm>
            <a:off x="5120640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8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212080" y="2651760"/>
            <a:ext cx="19385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wins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(low effort, ready now)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06640" y="1828800"/>
            <a:ext cx="2121408" cy="1554480"/>
          </a:xfrm>
          <a:prstGeom prst="rect">
            <a:avLst>
              <a:gd name="adj" fmla="val 3529"/>
            </a:avLst>
          </a:prstGeom>
          <a:solidFill>
            <a:srgbClr val="F4F6F4"/>
          </a:solidFill>
          <a:ln/>
        </p:spPr>
      </p:sp>
      <p:sp>
        <p:nvSpPr>
          <p:cNvPr id="14" name="Text 12"/>
          <p:cNvSpPr/>
          <p:nvPr/>
        </p:nvSpPr>
        <p:spPr>
          <a:xfrm>
            <a:off x="7406640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7498080" y="2651760"/>
            <a:ext cx="19385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builds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(high value, phased)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692640" y="1828800"/>
            <a:ext cx="2121408" cy="1554480"/>
          </a:xfrm>
          <a:prstGeom prst="rect">
            <a:avLst>
              <a:gd name="adj" fmla="val 3529"/>
            </a:avLst>
          </a:prstGeom>
          <a:solidFill>
            <a:srgbClr val="F4F6F4"/>
          </a:solidFill>
          <a:ln/>
        </p:spPr>
      </p:sp>
      <p:sp>
        <p:nvSpPr>
          <p:cNvPr id="17" name="Text 15"/>
          <p:cNvSpPr/>
          <p:nvPr/>
        </p:nvSpPr>
        <p:spPr>
          <a:xfrm>
            <a:off x="9692640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784080" y="2651760"/>
            <a:ext cx="19385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Parked – blocked,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yet scoped, or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non-AI led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3703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11064240" cy="1965960"/>
          </a:xfrm>
          <a:prstGeom prst="rect">
            <a:avLst>
              <a:gd name="adj" fmla="val 2326"/>
            </a:avLst>
          </a:prstGeom>
          <a:solidFill>
            <a:srgbClr val="F4F6F4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279392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2E8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UC-024, UC-021 and UC-022 immediately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all three are low-risk, low-dependency and can be delivered within the current cycle.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2E8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UC-023 and UC-004 for Phase 2 scoping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highest business value on the portfolio, but each depends on wider system integration (NTAS, Neolink, Geneva, NAV control pack) and should share a common document-extraction service to avoid building the same capability twice.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77240" y="5413248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2E8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Revisit the 19 parked use cases on a quarterly cadence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most are blocked by group programmes (RECAP, Fenergo, Doc Factory, LCM) rather than by feasibility; re-score once those dependencies clear.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BNP Paribas – Liquid Alternatives  |  AI Use Case Portfolio Review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Methodology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use case with a proposed approach was scored 1–5 across four dimensions, weighted into a single Overall Readiness Score.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1965960"/>
          </a:xfrm>
          <a:prstGeom prst="rect">
            <a:avLst>
              <a:gd name="adj" fmla="val 2791"/>
            </a:avLst>
          </a:prstGeom>
          <a:solidFill>
            <a:srgbClr val="F4F6F4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rgbClr val="1F5F4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Weight: 30%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30175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of manual effort removed, error/risk reduction, client-facing benefit.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64992" y="1691640"/>
            <a:ext cx="2651760" cy="1965960"/>
          </a:xfrm>
          <a:prstGeom prst="rect">
            <a:avLst>
              <a:gd name="adj" fmla="val 2791"/>
            </a:avLst>
          </a:prstGeom>
          <a:solidFill>
            <a:srgbClr val="F4F6F4"/>
          </a:solidFill>
          <a:ln/>
        </p:spPr>
      </p:sp>
      <p:sp>
        <p:nvSpPr>
          <p:cNvPr id="11" name="Shape 9"/>
          <p:cNvSpPr/>
          <p:nvPr/>
        </p:nvSpPr>
        <p:spPr>
          <a:xfrm>
            <a:off x="3547872" y="1874520"/>
            <a:ext cx="457200" cy="457200"/>
          </a:xfrm>
          <a:prstGeom prst="ellipse">
            <a:avLst/>
          </a:prstGeom>
          <a:solidFill>
            <a:srgbClr val="1F5F45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Feasibility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47872" y="2743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Weight: 25%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47872" y="30175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Maturity of the AI approach – proven pattern (e.g. OCR+LLM extraction) vs. novel/unclear.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81344" y="1691640"/>
            <a:ext cx="2651760" cy="1965960"/>
          </a:xfrm>
          <a:prstGeom prst="rect">
            <a:avLst>
              <a:gd name="adj" fmla="val 2791"/>
            </a:avLst>
          </a:prstGeom>
          <a:solidFill>
            <a:srgbClr val="F4F6F4"/>
          </a:solidFill>
          <a:ln/>
        </p:spPr>
      </p:sp>
      <p:sp>
        <p:nvSpPr>
          <p:cNvPr id="17" name="Shape 15"/>
          <p:cNvSpPr/>
          <p:nvPr/>
        </p:nvSpPr>
        <p:spPr>
          <a:xfrm>
            <a:off x="6364224" y="1874520"/>
            <a:ext cx="457200" cy="457200"/>
          </a:xfrm>
          <a:prstGeom prst="ellipse">
            <a:avLst/>
          </a:prstGeom>
          <a:solidFill>
            <a:srgbClr val="1F5F45"/>
          </a:solidFill>
          <a:ln/>
        </p:spPr>
      </p:sp>
      <p:sp>
        <p:nvSpPr>
          <p:cNvPr id="18" name="Text 16"/>
          <p:cNvSpPr/>
          <p:nvPr/>
        </p:nvSpPr>
        <p:spPr>
          <a:xfrm>
            <a:off x="6364224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64224" y="2423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64224" y="2743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Weight: 25%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64224" y="30175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systems availability today; whether delivery is blocked on another team's programme.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997696" y="1691640"/>
            <a:ext cx="2651760" cy="1965960"/>
          </a:xfrm>
          <a:prstGeom prst="rect">
            <a:avLst>
              <a:gd name="adj" fmla="val 2791"/>
            </a:avLst>
          </a:prstGeom>
          <a:solidFill>
            <a:srgbClr val="F4F6F4"/>
          </a:solidFill>
          <a:ln/>
        </p:spPr>
      </p:sp>
      <p:sp>
        <p:nvSpPr>
          <p:cNvPr id="23" name="Shape 21"/>
          <p:cNvSpPr/>
          <p:nvPr/>
        </p:nvSpPr>
        <p:spPr>
          <a:xfrm>
            <a:off x="9180576" y="1874520"/>
            <a:ext cx="457200" cy="457200"/>
          </a:xfrm>
          <a:prstGeom prst="ellipse">
            <a:avLst/>
          </a:prstGeom>
          <a:solidFill>
            <a:srgbClr val="1F5F45"/>
          </a:solidFill>
          <a:ln/>
        </p:spPr>
      </p:sp>
      <p:sp>
        <p:nvSpPr>
          <p:cNvPr id="24" name="Text 22"/>
          <p:cNvSpPr/>
          <p:nvPr/>
        </p:nvSpPr>
        <p:spPr>
          <a:xfrm>
            <a:off x="9180576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180576" y="2423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/ Governance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80576" y="2743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Weight: 20%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180576" y="30175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sensitivity and control complexity – scored so 5 = simplest to govern.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4343400"/>
            <a:ext cx="3474720" cy="173736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D8DE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" y="4526280"/>
            <a:ext cx="146304" cy="146304"/>
          </a:xfrm>
          <a:prstGeom prst="rect">
            <a:avLst/>
          </a:prstGeom>
          <a:solidFill>
            <a:srgbClr val="2E8B63"/>
          </a:solidFill>
          <a:ln/>
        </p:spPr>
      </p:sp>
      <p:sp>
        <p:nvSpPr>
          <p:cNvPr id="31" name="Text 29"/>
          <p:cNvSpPr/>
          <p:nvPr/>
        </p:nvSpPr>
        <p:spPr>
          <a:xfrm>
            <a:off x="960120" y="443484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Win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31520" y="480060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≥ 4.0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1520" y="507492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now – low effort, no material blockers.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160520" y="4343400"/>
            <a:ext cx="3474720" cy="173736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D8DED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43400" y="4526280"/>
            <a:ext cx="146304" cy="14630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0" y="443484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Priority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343400" y="480060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3.0–3.99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43400" y="507492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value, phased delivery behind dependencies.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72400" y="4343400"/>
            <a:ext cx="3474720" cy="173736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D8DED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955280" y="4526280"/>
            <a:ext cx="146304" cy="146304"/>
          </a:xfrm>
          <a:prstGeom prst="rect">
            <a:avLst/>
          </a:prstGeom>
          <a:solidFill>
            <a:srgbClr val="50594F"/>
          </a:solidFill>
          <a:ln/>
        </p:spPr>
      </p:sp>
      <p:sp>
        <p:nvSpPr>
          <p:cNvPr id="41" name="Text 39"/>
          <p:cNvSpPr/>
          <p:nvPr/>
        </p:nvSpPr>
        <p:spPr>
          <a:xfrm>
            <a:off x="8183880" y="443484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Parked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955280" y="480060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scored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955280" y="507492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Blocked, non-AI led, or not yet sufficiently defined.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BNP Paribas – Liquid Alternatives  |  AI Use Case Portfolio Review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Prioritisation Matrix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vs. Readiness – bubble size reflects Business Impact.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463040" y="1645920"/>
            <a:ext cx="6949440" cy="4572000"/>
          </a:xfrm>
          <a:prstGeom prst="rect">
            <a:avLst>
              <a:gd name="adj" fmla="val 600"/>
            </a:avLst>
          </a:prstGeom>
          <a:solidFill>
            <a:srgbClr val="F4F6F4"/>
          </a:solidFill>
          <a:ln/>
        </p:spPr>
      </p:sp>
      <p:sp>
        <p:nvSpPr>
          <p:cNvPr id="5" name="Shape 3"/>
          <p:cNvSpPr/>
          <p:nvPr/>
        </p:nvSpPr>
        <p:spPr>
          <a:xfrm>
            <a:off x="5632704" y="1645920"/>
            <a:ext cx="0" cy="457200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3474720"/>
            <a:ext cx="694944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6291072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 →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 rot="16200000">
            <a:off x="22860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88720" y="6080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88720" y="1508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417320" y="6236208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75320" y="6236208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815584" y="3017520"/>
            <a:ext cx="2459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2E8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WINS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00200" y="3017520"/>
            <a:ext cx="3849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/ PHASED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97496" y="2368296"/>
            <a:ext cx="658368" cy="658368"/>
          </a:xfrm>
          <a:prstGeom prst="ellipse">
            <a:avLst/>
          </a:prstGeom>
          <a:solidFill>
            <a:srgbClr val="2E8B63">
              <a:alpha val="85000"/>
            </a:srgbClr>
          </a:solidFill>
          <a:ln w="19050">
            <a:solidFill>
              <a:srgbClr val="2E8B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97496" y="236829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671816" y="1545336"/>
            <a:ext cx="658368" cy="658368"/>
          </a:xfrm>
          <a:prstGeom prst="ellipse">
            <a:avLst/>
          </a:prstGeom>
          <a:solidFill>
            <a:srgbClr val="2E8B63">
              <a:alpha val="85000"/>
            </a:srgbClr>
          </a:solidFill>
          <a:ln w="19050">
            <a:solidFill>
              <a:srgbClr val="2E8B6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71816" y="154533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0" y="2194560"/>
            <a:ext cx="457200" cy="457200"/>
          </a:xfrm>
          <a:prstGeom prst="ellipse">
            <a:avLst/>
          </a:prstGeom>
          <a:solidFill>
            <a:srgbClr val="2E8B63">
              <a:alpha val="85000"/>
            </a:srgbClr>
          </a:solidFill>
          <a:ln w="19050">
            <a:solidFill>
              <a:srgbClr val="2E8B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0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071616" y="2734056"/>
            <a:ext cx="658368" cy="658368"/>
          </a:xfrm>
          <a:prstGeom prst="ellipse">
            <a:avLst/>
          </a:prstGeom>
          <a:solidFill>
            <a:srgbClr val="B98A2E">
              <a:alpha val="85000"/>
            </a:srgbClr>
          </a:solidFill>
          <a:ln w="19050">
            <a:solidFill>
              <a:srgbClr val="B98A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2459736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UC-023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07992" y="2633472"/>
            <a:ext cx="859536" cy="859536"/>
          </a:xfrm>
          <a:prstGeom prst="ellipse">
            <a:avLst/>
          </a:prstGeom>
          <a:solidFill>
            <a:srgbClr val="B98A2E">
              <a:alpha val="85000"/>
            </a:srgbClr>
          </a:solidFill>
          <a:ln w="19050">
            <a:solidFill>
              <a:srgbClr val="B98A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34840" y="2359152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UC-004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646920" y="1737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646920" y="2103120"/>
            <a:ext cx="201168" cy="201168"/>
          </a:xfrm>
          <a:prstGeom prst="ellipse">
            <a:avLst/>
          </a:prstGeom>
          <a:solidFill>
            <a:srgbClr val="2E8B63">
              <a:alpha val="85000"/>
            </a:srgbClr>
          </a:solidFill>
          <a:ln w="19050">
            <a:solidFill>
              <a:srgbClr val="2E8B6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39528" y="20574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Win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646920" y="2423160"/>
            <a:ext cx="201168" cy="201168"/>
          </a:xfrm>
          <a:prstGeom prst="ellipse">
            <a:avLst/>
          </a:prstGeom>
          <a:solidFill>
            <a:srgbClr val="B98A2E">
              <a:alpha val="85000"/>
            </a:srgbClr>
          </a:solidFill>
          <a:ln w="19050">
            <a:solidFill>
              <a:srgbClr val="B98A2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939528" y="2377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Priority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646920" y="27889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UC-021    2  UC-022    3  UC-024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646920" y="333756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Bubble size = Business Impact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BNP Paribas – Liquid Alternatives  |  AI Use Case Portfolio Review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Scorecard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Overall Readiness Score (1–5 scale).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3108960"/>
                <a:gridCol w="868680"/>
                <a:gridCol w="1005840"/>
                <a:gridCol w="960120"/>
                <a:gridCol w="777240"/>
                <a:gridCol w="868680"/>
                <a:gridCol w="187452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Case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Feasibility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Readiness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Risk*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Overall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4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B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UC-024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B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FTE Calculations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8B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Quick Win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6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B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UC-022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B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Trade File Processing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8B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Quick Win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6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B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UC-021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B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AI-Generated Security Callback Scripts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8B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Quick Win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6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B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UC-023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B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KYC Document Processing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8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Strategic Priority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8A2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B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UC-004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B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Invoice Payment Processing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059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8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Strategic Priority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8A2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00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*Risk/Governance scored so 5 = simplest to govern (least regulatory/control complexity).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48640" y="5166360"/>
            <a:ext cx="11064240" cy="1051560"/>
          </a:xfrm>
          <a:prstGeom prst="rect">
            <a:avLst>
              <a:gd name="adj" fmla="val 4348"/>
            </a:avLst>
          </a:prstGeom>
          <a:solidFill>
            <a:srgbClr val="F4F6F4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30352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table: 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UC-024, UC-022 and UC-021 need no cross-system integration and carry no open blockers — they can start immediately. UC-004 has the single largest benefit case but scores lowest on readiness because it spans three downstream systems (Neolink, Geneva, NAV control pack); it is recommended, not deferred, but sequenced.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BNP Paribas – Liquid Alternatives  |  AI Use Case Portfolio Review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Detail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70916" y="868680"/>
            <a:ext cx="5486400" cy="5559552"/>
          </a:xfrm>
          <a:prstGeom prst="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DE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0916" y="868680"/>
            <a:ext cx="5486400" cy="749808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5" name="Text 3"/>
          <p:cNvSpPr/>
          <p:nvPr/>
        </p:nvSpPr>
        <p:spPr>
          <a:xfrm>
            <a:off x="699516" y="95097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54196" y="950976"/>
            <a:ext cx="1874520" cy="292608"/>
          </a:xfrm>
          <a:prstGeom prst="roundRect">
            <a:avLst>
              <a:gd name="adj" fmla="val 46875"/>
            </a:avLst>
          </a:prstGeom>
          <a:solidFill>
            <a:srgbClr val="2E8B6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WIN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99516" y="12161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FTE Calculations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99516" y="1737360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Function: </a:t>
            </a:r>
            <a:pPr indent="0" marL="0">
              <a:buNone/>
            </a:pPr>
            <a:r>
              <a:rPr lang="en-US" sz="10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 Operations   ·   Owner: Kate McDermott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99516" y="202996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99516" y="2249424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7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FTE is calculated by hand every month from several NTAS extracts (chiefly the prior month's trade extract) — repeated, resource-hungry, slow.</a:t>
            </a:r>
            <a:endParaRPr lang="en-US" sz="970" dirty="0"/>
          </a:p>
        </p:txBody>
      </p:sp>
      <p:sp>
        <p:nvSpPr>
          <p:cNvPr id="11" name="Text 9"/>
          <p:cNvSpPr/>
          <p:nvPr/>
        </p:nvSpPr>
        <p:spPr>
          <a:xfrm>
            <a:off x="699516" y="27614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APPROACH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9516" y="2980944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7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the rule-based calculation with code/LLM: work through the trade file extract, map it against other static file extracts, and produce the FTE figure automatically.</a:t>
            </a:r>
            <a:endParaRPr lang="en-US" sz="970" dirty="0"/>
          </a:p>
        </p:txBody>
      </p:sp>
      <p:sp>
        <p:nvSpPr>
          <p:cNvPr id="13" name="Text 11"/>
          <p:cNvSpPr/>
          <p:nvPr/>
        </p:nvSpPr>
        <p:spPr>
          <a:xfrm>
            <a:off x="699516" y="3712464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613916" y="3753612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15" name="Shape 13"/>
          <p:cNvSpPr/>
          <p:nvPr/>
        </p:nvSpPr>
        <p:spPr>
          <a:xfrm>
            <a:off x="1613916" y="3753612"/>
            <a:ext cx="3255264" cy="109728"/>
          </a:xfrm>
          <a:prstGeom prst="rect">
            <a:avLst/>
          </a:prstGeom>
          <a:solidFill>
            <a:srgbClr val="2E8B63"/>
          </a:solidFill>
          <a:ln/>
        </p:spPr>
      </p:sp>
      <p:sp>
        <p:nvSpPr>
          <p:cNvPr id="16" name="Text 14"/>
          <p:cNvSpPr/>
          <p:nvPr/>
        </p:nvSpPr>
        <p:spPr>
          <a:xfrm>
            <a:off x="5737860" y="371246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99516" y="393192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613916" y="3973068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19" name="Shape 17"/>
          <p:cNvSpPr/>
          <p:nvPr/>
        </p:nvSpPr>
        <p:spPr>
          <a:xfrm>
            <a:off x="1613916" y="3973068"/>
            <a:ext cx="4069080" cy="109728"/>
          </a:xfrm>
          <a:prstGeom prst="rect">
            <a:avLst/>
          </a:prstGeom>
          <a:solidFill>
            <a:srgbClr val="2E8B63"/>
          </a:solidFill>
          <a:ln/>
        </p:spPr>
      </p:sp>
      <p:sp>
        <p:nvSpPr>
          <p:cNvPr id="20" name="Text 18"/>
          <p:cNvSpPr/>
          <p:nvPr/>
        </p:nvSpPr>
        <p:spPr>
          <a:xfrm>
            <a:off x="5737860" y="3931920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99516" y="4151376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613916" y="4192524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23" name="Shape 21"/>
          <p:cNvSpPr/>
          <p:nvPr/>
        </p:nvSpPr>
        <p:spPr>
          <a:xfrm>
            <a:off x="1613916" y="4192524"/>
            <a:ext cx="4069080" cy="109728"/>
          </a:xfrm>
          <a:prstGeom prst="rect">
            <a:avLst/>
          </a:prstGeom>
          <a:solidFill>
            <a:srgbClr val="2E8B63"/>
          </a:solidFill>
          <a:ln/>
        </p:spPr>
      </p:sp>
      <p:sp>
        <p:nvSpPr>
          <p:cNvPr id="24" name="Text 22"/>
          <p:cNvSpPr/>
          <p:nvPr/>
        </p:nvSpPr>
        <p:spPr>
          <a:xfrm>
            <a:off x="5737860" y="4151376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99516" y="4370832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Risk*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613916" y="4411980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27" name="Shape 25"/>
          <p:cNvSpPr/>
          <p:nvPr/>
        </p:nvSpPr>
        <p:spPr>
          <a:xfrm>
            <a:off x="1613916" y="4411980"/>
            <a:ext cx="4069080" cy="109728"/>
          </a:xfrm>
          <a:prstGeom prst="rect">
            <a:avLst/>
          </a:prstGeom>
          <a:solidFill>
            <a:srgbClr val="2E8B63"/>
          </a:solidFill>
          <a:ln/>
        </p:spPr>
      </p:sp>
      <p:sp>
        <p:nvSpPr>
          <p:cNvPr id="28" name="Text 26"/>
          <p:cNvSpPr/>
          <p:nvPr/>
        </p:nvSpPr>
        <p:spPr>
          <a:xfrm>
            <a:off x="5737860" y="4370832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99516" y="466344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Overall: </a:t>
            </a:r>
            <a:pPr indent="0" marL="0">
              <a:buNone/>
            </a:pPr>
            <a:r>
              <a:rPr lang="en-US" sz="1400" b="1" dirty="0">
                <a:solidFill>
                  <a:srgbClr val="2E8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4.70 / 5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99516" y="4992624"/>
            <a:ext cx="5029200" cy="1298448"/>
          </a:xfrm>
          <a:prstGeom prst="rect">
            <a:avLst>
              <a:gd name="adj" fmla="val 3521"/>
            </a:avLst>
          </a:prstGeom>
          <a:solidFill>
            <a:srgbClr val="F4F6F4"/>
          </a:solidFill>
          <a:ln/>
        </p:spPr>
      </p:sp>
      <p:sp>
        <p:nvSpPr>
          <p:cNvPr id="31" name="Text 29"/>
          <p:cNvSpPr/>
          <p:nvPr/>
        </p:nvSpPr>
        <p:spPr>
          <a:xfrm>
            <a:off x="836676" y="508406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F5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36676" y="5303520"/>
            <a:ext cx="475488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Fast-track. Purely internal, rule-based reporting on data already in NTAS — no known blockers, no client or payment exposure, simplest use case on the portfolio to govern.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31636" y="868680"/>
            <a:ext cx="5486400" cy="5559552"/>
          </a:xfrm>
          <a:prstGeom prst="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DE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31636" y="868680"/>
            <a:ext cx="5486400" cy="749808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35" name="Text 33"/>
          <p:cNvSpPr/>
          <p:nvPr/>
        </p:nvSpPr>
        <p:spPr>
          <a:xfrm>
            <a:off x="6460236" y="95097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UC-022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614916" y="950976"/>
            <a:ext cx="1874520" cy="292608"/>
          </a:xfrm>
          <a:prstGeom prst="roundRect">
            <a:avLst>
              <a:gd name="adj" fmla="val 46875"/>
            </a:avLst>
          </a:prstGeom>
          <a:solidFill>
            <a:srgbClr val="2E8B6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WIN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60236" y="12161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Trade File Processing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6460236" y="1737360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Function: </a:t>
            </a:r>
            <a:pPr indent="0" marL="0">
              <a:buNone/>
            </a:pPr>
            <a:r>
              <a:rPr lang="en-US" sz="10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 / MO Operations   ·   Owner: Ruairi Scullion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60236" y="202996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460236" y="2249424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7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files land via SFTP and are manually checked, filtered, macro-formatted and uploaded to Neolink every cycle.</a:t>
            </a:r>
            <a:endParaRPr lang="en-US" sz="970" dirty="0"/>
          </a:p>
        </p:txBody>
      </p:sp>
      <p:sp>
        <p:nvSpPr>
          <p:cNvPr id="41" name="Text 39"/>
          <p:cNvSpPr/>
          <p:nvPr/>
        </p:nvSpPr>
        <p:spPr>
          <a:xfrm>
            <a:off x="6460236" y="27614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APPROACH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460236" y="2980944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7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automation: detect the file, select relevant lines by rule, convert to Neolink format, load, notify the team. Final review/release stays with a human.</a:t>
            </a:r>
            <a:endParaRPr lang="en-US" sz="970" dirty="0"/>
          </a:p>
        </p:txBody>
      </p:sp>
      <p:sp>
        <p:nvSpPr>
          <p:cNvPr id="43" name="Text 41"/>
          <p:cNvSpPr/>
          <p:nvPr/>
        </p:nvSpPr>
        <p:spPr>
          <a:xfrm>
            <a:off x="6460236" y="3712464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374636" y="3753612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45" name="Shape 43"/>
          <p:cNvSpPr/>
          <p:nvPr/>
        </p:nvSpPr>
        <p:spPr>
          <a:xfrm>
            <a:off x="7374636" y="3753612"/>
            <a:ext cx="3255264" cy="109728"/>
          </a:xfrm>
          <a:prstGeom prst="rect">
            <a:avLst/>
          </a:prstGeom>
          <a:solidFill>
            <a:srgbClr val="2E8B63"/>
          </a:solidFill>
          <a:ln/>
        </p:spPr>
      </p:sp>
      <p:sp>
        <p:nvSpPr>
          <p:cNvPr id="46" name="Text 44"/>
          <p:cNvSpPr/>
          <p:nvPr/>
        </p:nvSpPr>
        <p:spPr>
          <a:xfrm>
            <a:off x="11498580" y="371246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60236" y="393192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374636" y="3973068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49" name="Shape 47"/>
          <p:cNvSpPr/>
          <p:nvPr/>
        </p:nvSpPr>
        <p:spPr>
          <a:xfrm>
            <a:off x="7374636" y="3973068"/>
            <a:ext cx="4069080" cy="109728"/>
          </a:xfrm>
          <a:prstGeom prst="rect">
            <a:avLst/>
          </a:prstGeom>
          <a:solidFill>
            <a:srgbClr val="2E8B63"/>
          </a:solidFill>
          <a:ln/>
        </p:spPr>
      </p:sp>
      <p:sp>
        <p:nvSpPr>
          <p:cNvPr id="50" name="Text 48"/>
          <p:cNvSpPr/>
          <p:nvPr/>
        </p:nvSpPr>
        <p:spPr>
          <a:xfrm>
            <a:off x="11498580" y="3931920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460236" y="4151376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374636" y="4192524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53" name="Shape 51"/>
          <p:cNvSpPr/>
          <p:nvPr/>
        </p:nvSpPr>
        <p:spPr>
          <a:xfrm>
            <a:off x="7374636" y="4192524"/>
            <a:ext cx="4069080" cy="109728"/>
          </a:xfrm>
          <a:prstGeom prst="rect">
            <a:avLst/>
          </a:prstGeom>
          <a:solidFill>
            <a:srgbClr val="2E8B63"/>
          </a:solidFill>
          <a:ln/>
        </p:spPr>
      </p:sp>
      <p:sp>
        <p:nvSpPr>
          <p:cNvPr id="54" name="Text 52"/>
          <p:cNvSpPr/>
          <p:nvPr/>
        </p:nvSpPr>
        <p:spPr>
          <a:xfrm>
            <a:off x="11498580" y="4151376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460236" y="4370832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Risk*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374636" y="4411980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57" name="Shape 55"/>
          <p:cNvSpPr/>
          <p:nvPr/>
        </p:nvSpPr>
        <p:spPr>
          <a:xfrm>
            <a:off x="7374636" y="4411980"/>
            <a:ext cx="3255264" cy="109728"/>
          </a:xfrm>
          <a:prstGeom prst="rect">
            <a:avLst/>
          </a:prstGeom>
          <a:solidFill>
            <a:srgbClr val="2E8B63"/>
          </a:solidFill>
          <a:ln/>
        </p:spPr>
      </p:sp>
      <p:sp>
        <p:nvSpPr>
          <p:cNvPr id="58" name="Text 56"/>
          <p:cNvSpPr/>
          <p:nvPr/>
        </p:nvSpPr>
        <p:spPr>
          <a:xfrm>
            <a:off x="11498580" y="4370832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460236" y="466344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Overall: </a:t>
            </a:r>
            <a:pPr indent="0" marL="0">
              <a:buNone/>
            </a:pPr>
            <a:r>
              <a:rPr lang="en-US" sz="1400" b="1" dirty="0">
                <a:solidFill>
                  <a:srgbClr val="2E8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4.50 / 5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6460236" y="4992624"/>
            <a:ext cx="5029200" cy="1298448"/>
          </a:xfrm>
          <a:prstGeom prst="rect">
            <a:avLst>
              <a:gd name="adj" fmla="val 3521"/>
            </a:avLst>
          </a:prstGeom>
          <a:solidFill>
            <a:srgbClr val="F4F6F4"/>
          </a:solidFill>
          <a:ln/>
        </p:spPr>
      </p:sp>
      <p:sp>
        <p:nvSpPr>
          <p:cNvPr id="61" name="Text 59"/>
          <p:cNvSpPr/>
          <p:nvPr/>
        </p:nvSpPr>
        <p:spPr>
          <a:xfrm>
            <a:off x="6597396" y="508406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F5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6597396" y="5303520"/>
            <a:ext cx="475488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Fast-track. This is rules-based software engineering, not model risk — clear owner, no blockers, human release gate retained.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BNP Paribas – Liquid Alternatives  |  AI Use Case Portfolio Review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Detail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70916" y="868680"/>
            <a:ext cx="5486400" cy="5559552"/>
          </a:xfrm>
          <a:prstGeom prst="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DE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0916" y="868680"/>
            <a:ext cx="5486400" cy="749808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5" name="Text 3"/>
          <p:cNvSpPr/>
          <p:nvPr/>
        </p:nvSpPr>
        <p:spPr>
          <a:xfrm>
            <a:off x="699516" y="95097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54196" y="950976"/>
            <a:ext cx="1874520" cy="292608"/>
          </a:xfrm>
          <a:prstGeom prst="roundRect">
            <a:avLst>
              <a:gd name="adj" fmla="val 46875"/>
            </a:avLst>
          </a:prstGeom>
          <a:solidFill>
            <a:srgbClr val="2E8B6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WIN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99516" y="12161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AI-Generated Security Callback Scripts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99516" y="1737360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Function: </a:t>
            </a:r>
            <a:pPr indent="0" marL="0">
              <a:buNone/>
            </a:pPr>
            <a:r>
              <a:rPr lang="en-US" sz="10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 Operations / BCIM   ·   Owner: Kate McDermott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99516" y="202996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99516" y="2249424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7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 security questions for verifying investor bank-detail changes are drafted manually for every scenario — slow and inconsistent.</a:t>
            </a:r>
            <a:endParaRPr lang="en-US" sz="970" dirty="0"/>
          </a:p>
        </p:txBody>
      </p:sp>
      <p:sp>
        <p:nvSpPr>
          <p:cNvPr id="11" name="Text 9"/>
          <p:cNvSpPr/>
          <p:nvPr/>
        </p:nvSpPr>
        <p:spPr>
          <a:xfrm>
            <a:off x="699516" y="27614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APPROACH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9516" y="2980944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7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generates scenario-specific security questions (e.g. redemption bank-detail changes) for staff to use on calls; output is used, not auto-actioned.</a:t>
            </a:r>
            <a:endParaRPr lang="en-US" sz="970" dirty="0"/>
          </a:p>
        </p:txBody>
      </p:sp>
      <p:sp>
        <p:nvSpPr>
          <p:cNvPr id="13" name="Text 11"/>
          <p:cNvSpPr/>
          <p:nvPr/>
        </p:nvSpPr>
        <p:spPr>
          <a:xfrm>
            <a:off x="699516" y="3712464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613916" y="3753612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15" name="Shape 13"/>
          <p:cNvSpPr/>
          <p:nvPr/>
        </p:nvSpPr>
        <p:spPr>
          <a:xfrm>
            <a:off x="1613916" y="3753612"/>
            <a:ext cx="2441448" cy="109728"/>
          </a:xfrm>
          <a:prstGeom prst="rect">
            <a:avLst/>
          </a:prstGeom>
          <a:solidFill>
            <a:srgbClr val="2E8B63"/>
          </a:solidFill>
          <a:ln/>
        </p:spPr>
      </p:sp>
      <p:sp>
        <p:nvSpPr>
          <p:cNvPr id="16" name="Text 14"/>
          <p:cNvSpPr/>
          <p:nvPr/>
        </p:nvSpPr>
        <p:spPr>
          <a:xfrm>
            <a:off x="5737860" y="371246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99516" y="393192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613916" y="3973068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19" name="Shape 17"/>
          <p:cNvSpPr/>
          <p:nvPr/>
        </p:nvSpPr>
        <p:spPr>
          <a:xfrm>
            <a:off x="1613916" y="3973068"/>
            <a:ext cx="4069080" cy="109728"/>
          </a:xfrm>
          <a:prstGeom prst="rect">
            <a:avLst/>
          </a:prstGeom>
          <a:solidFill>
            <a:srgbClr val="2E8B63"/>
          </a:solidFill>
          <a:ln/>
        </p:spPr>
      </p:sp>
      <p:sp>
        <p:nvSpPr>
          <p:cNvPr id="20" name="Text 18"/>
          <p:cNvSpPr/>
          <p:nvPr/>
        </p:nvSpPr>
        <p:spPr>
          <a:xfrm>
            <a:off x="5737860" y="3931920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99516" y="4151376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613916" y="4192524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23" name="Shape 21"/>
          <p:cNvSpPr/>
          <p:nvPr/>
        </p:nvSpPr>
        <p:spPr>
          <a:xfrm>
            <a:off x="1613916" y="4192524"/>
            <a:ext cx="4069080" cy="109728"/>
          </a:xfrm>
          <a:prstGeom prst="rect">
            <a:avLst/>
          </a:prstGeom>
          <a:solidFill>
            <a:srgbClr val="2E8B63"/>
          </a:solidFill>
          <a:ln/>
        </p:spPr>
      </p:sp>
      <p:sp>
        <p:nvSpPr>
          <p:cNvPr id="24" name="Text 22"/>
          <p:cNvSpPr/>
          <p:nvPr/>
        </p:nvSpPr>
        <p:spPr>
          <a:xfrm>
            <a:off x="5737860" y="4151376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99516" y="4370832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Risk*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613916" y="4411980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27" name="Shape 25"/>
          <p:cNvSpPr/>
          <p:nvPr/>
        </p:nvSpPr>
        <p:spPr>
          <a:xfrm>
            <a:off x="1613916" y="4411980"/>
            <a:ext cx="3255264" cy="109728"/>
          </a:xfrm>
          <a:prstGeom prst="rect">
            <a:avLst/>
          </a:prstGeom>
          <a:solidFill>
            <a:srgbClr val="2E8B63"/>
          </a:solidFill>
          <a:ln/>
        </p:spPr>
      </p:sp>
      <p:sp>
        <p:nvSpPr>
          <p:cNvPr id="28" name="Text 26"/>
          <p:cNvSpPr/>
          <p:nvPr/>
        </p:nvSpPr>
        <p:spPr>
          <a:xfrm>
            <a:off x="5737860" y="4370832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99516" y="466344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Overall: </a:t>
            </a:r>
            <a:pPr indent="0" marL="0">
              <a:buNone/>
            </a:pPr>
            <a:r>
              <a:rPr lang="en-US" sz="1400" b="1" dirty="0">
                <a:solidFill>
                  <a:srgbClr val="2E8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4.20 / 5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99516" y="4992624"/>
            <a:ext cx="5029200" cy="1298448"/>
          </a:xfrm>
          <a:prstGeom prst="rect">
            <a:avLst>
              <a:gd name="adj" fmla="val 3521"/>
            </a:avLst>
          </a:prstGeom>
          <a:solidFill>
            <a:srgbClr val="F4F6F4"/>
          </a:solidFill>
          <a:ln/>
        </p:spPr>
      </p:sp>
      <p:sp>
        <p:nvSpPr>
          <p:cNvPr id="31" name="Text 29"/>
          <p:cNvSpPr/>
          <p:nvPr/>
        </p:nvSpPr>
        <p:spPr>
          <a:xfrm>
            <a:off x="836676" y="508406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F5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36676" y="5303520"/>
            <a:ext cx="475488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Fast-track as a low-risk pilot. Single LLM prompt/service, no system integration, no blockers — deliverable within a sprint.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31636" y="868680"/>
            <a:ext cx="5486400" cy="5559552"/>
          </a:xfrm>
          <a:prstGeom prst="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DE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31636" y="868680"/>
            <a:ext cx="5486400" cy="749808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35" name="Text 33"/>
          <p:cNvSpPr/>
          <p:nvPr/>
        </p:nvSpPr>
        <p:spPr>
          <a:xfrm>
            <a:off x="6460236" y="95097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UC-023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614916" y="950976"/>
            <a:ext cx="1874520" cy="292608"/>
          </a:xfrm>
          <a:prstGeom prst="roundRect">
            <a:avLst>
              <a:gd name="adj" fmla="val 46875"/>
            </a:avLst>
          </a:prstGeom>
          <a:solidFill>
            <a:srgbClr val="B98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PRIORITY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60236" y="12161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KYC Document Processing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6460236" y="1737360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Function: </a:t>
            </a:r>
            <a:pPr indent="0" marL="0">
              <a:buNone/>
            </a:pPr>
            <a:r>
              <a:rPr lang="en-US" sz="10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 Operations   ·   Owner: Unassigned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60236" y="202996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460236" y="2249424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7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Certified KYC PDFs arrive by email; a maker keys details into an NTAS GRID loader file by hand, a checker reviews before upload.</a:t>
            </a:r>
            <a:endParaRPr lang="en-US" sz="970" dirty="0"/>
          </a:p>
        </p:txBody>
      </p:sp>
      <p:sp>
        <p:nvSpPr>
          <p:cNvPr id="41" name="Text 39"/>
          <p:cNvSpPr/>
          <p:nvPr/>
        </p:nvSpPr>
        <p:spPr>
          <a:xfrm>
            <a:off x="6460236" y="27614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APPROACH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460236" y="2980944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7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LLM/OCR extracts KYC data from the PDF into the GRID file format; human verifies (maker), existing checker upload step is retained.</a:t>
            </a:r>
            <a:endParaRPr lang="en-US" sz="970" dirty="0"/>
          </a:p>
        </p:txBody>
      </p:sp>
      <p:sp>
        <p:nvSpPr>
          <p:cNvPr id="43" name="Text 41"/>
          <p:cNvSpPr/>
          <p:nvPr/>
        </p:nvSpPr>
        <p:spPr>
          <a:xfrm>
            <a:off x="6460236" y="3712464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374636" y="3753612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45" name="Shape 43"/>
          <p:cNvSpPr/>
          <p:nvPr/>
        </p:nvSpPr>
        <p:spPr>
          <a:xfrm>
            <a:off x="7374636" y="3753612"/>
            <a:ext cx="3255264" cy="10972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46" name="Text 44"/>
          <p:cNvSpPr/>
          <p:nvPr/>
        </p:nvSpPr>
        <p:spPr>
          <a:xfrm>
            <a:off x="11498580" y="371246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60236" y="393192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374636" y="3973068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49" name="Shape 47"/>
          <p:cNvSpPr/>
          <p:nvPr/>
        </p:nvSpPr>
        <p:spPr>
          <a:xfrm>
            <a:off x="7374636" y="3973068"/>
            <a:ext cx="3255264" cy="10972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50" name="Text 48"/>
          <p:cNvSpPr/>
          <p:nvPr/>
        </p:nvSpPr>
        <p:spPr>
          <a:xfrm>
            <a:off x="11498580" y="3931920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460236" y="4151376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374636" y="4192524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53" name="Shape 51"/>
          <p:cNvSpPr/>
          <p:nvPr/>
        </p:nvSpPr>
        <p:spPr>
          <a:xfrm>
            <a:off x="7374636" y="4192524"/>
            <a:ext cx="3255264" cy="10972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54" name="Text 52"/>
          <p:cNvSpPr/>
          <p:nvPr/>
        </p:nvSpPr>
        <p:spPr>
          <a:xfrm>
            <a:off x="11498580" y="4151376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460236" y="4370832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Risk*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374636" y="4411980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57" name="Shape 55"/>
          <p:cNvSpPr/>
          <p:nvPr/>
        </p:nvSpPr>
        <p:spPr>
          <a:xfrm>
            <a:off x="7374636" y="4411980"/>
            <a:ext cx="2441448" cy="10972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58" name="Text 56"/>
          <p:cNvSpPr/>
          <p:nvPr/>
        </p:nvSpPr>
        <p:spPr>
          <a:xfrm>
            <a:off x="11498580" y="4370832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460236" y="466344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Overall: </a:t>
            </a:r>
            <a:pPr indent="0" marL="0">
              <a:buNone/>
            </a:pPr>
            <a:r>
              <a:rPr lang="en-US" sz="14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3.80 / 5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6460236" y="4992624"/>
            <a:ext cx="5029200" cy="1298448"/>
          </a:xfrm>
          <a:prstGeom prst="rect">
            <a:avLst>
              <a:gd name="adj" fmla="val 3521"/>
            </a:avLst>
          </a:prstGeom>
          <a:solidFill>
            <a:srgbClr val="F4F6F4"/>
          </a:solidFill>
          <a:ln/>
        </p:spPr>
      </p:sp>
      <p:sp>
        <p:nvSpPr>
          <p:cNvPr id="61" name="Text 59"/>
          <p:cNvSpPr/>
          <p:nvPr/>
        </p:nvSpPr>
        <p:spPr>
          <a:xfrm>
            <a:off x="6597396" y="508406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F5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6597396" y="5303520"/>
            <a:ext cx="475488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Proceed as a Phase 2 build. Extraction component can share a common OCR+LLM service with UC-004 rather than being built twice.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BNP Paribas – Liquid Alternatives  |  AI Use Case Portfolio Review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Detail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351276" y="868680"/>
            <a:ext cx="5486400" cy="5559552"/>
          </a:xfrm>
          <a:prstGeom prst="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DE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276" y="868680"/>
            <a:ext cx="5486400" cy="749808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5" name="Text 3"/>
          <p:cNvSpPr/>
          <p:nvPr/>
        </p:nvSpPr>
        <p:spPr>
          <a:xfrm>
            <a:off x="3579876" y="95097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734556" y="950976"/>
            <a:ext cx="1874520" cy="292608"/>
          </a:xfrm>
          <a:prstGeom prst="roundRect">
            <a:avLst>
              <a:gd name="adj" fmla="val 46875"/>
            </a:avLst>
          </a:prstGeom>
          <a:solidFill>
            <a:srgbClr val="B98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PRIORITY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579876" y="12161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Invoice Payment Processing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3579876" y="1737360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Function: </a:t>
            </a:r>
            <a:pPr indent="0" marL="0">
              <a:buNone/>
            </a:pPr>
            <a:r>
              <a:rPr lang="en-US" sz="10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 Operations   ·   Owner: Steve Smyth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579876" y="202996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579876" y="2249424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7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 handling is manual end-to-end: email review, Neolink entry with 4-eye check, Geneva posting, NAV control pack entry, client confirmation.</a:t>
            </a:r>
            <a:endParaRPr lang="en-US" sz="970" dirty="0"/>
          </a:p>
        </p:txBody>
      </p:sp>
      <p:sp>
        <p:nvSpPr>
          <p:cNvPr id="11" name="Text 9"/>
          <p:cNvSpPr/>
          <p:nvPr/>
        </p:nvSpPr>
        <p:spPr>
          <a:xfrm>
            <a:off x="3579876" y="27614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APPROACH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79876" y="2980944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7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OCR/LLM extracts invoice data from email, validates against ASL, posts payment in Neolink, books to Geneva, updates the NAV control pack, drafts client confirmation — 4-eye review retained at each control point.</a:t>
            </a:r>
            <a:endParaRPr lang="en-US" sz="970" dirty="0"/>
          </a:p>
        </p:txBody>
      </p:sp>
      <p:sp>
        <p:nvSpPr>
          <p:cNvPr id="13" name="Text 11"/>
          <p:cNvSpPr/>
          <p:nvPr/>
        </p:nvSpPr>
        <p:spPr>
          <a:xfrm>
            <a:off x="3579876" y="3712464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494276" y="3753612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15" name="Shape 13"/>
          <p:cNvSpPr/>
          <p:nvPr/>
        </p:nvSpPr>
        <p:spPr>
          <a:xfrm>
            <a:off x="4494276" y="3753612"/>
            <a:ext cx="4069080" cy="10972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Text 14"/>
          <p:cNvSpPr/>
          <p:nvPr/>
        </p:nvSpPr>
        <p:spPr>
          <a:xfrm>
            <a:off x="8618220" y="3712464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579876" y="393192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494276" y="3973068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19" name="Shape 17"/>
          <p:cNvSpPr/>
          <p:nvPr/>
        </p:nvSpPr>
        <p:spPr>
          <a:xfrm>
            <a:off x="4494276" y="3973068"/>
            <a:ext cx="3255264" cy="10972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618220" y="3931920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579876" y="4151376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494276" y="4192524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23" name="Shape 21"/>
          <p:cNvSpPr/>
          <p:nvPr/>
        </p:nvSpPr>
        <p:spPr>
          <a:xfrm>
            <a:off x="4494276" y="4192524"/>
            <a:ext cx="2441448" cy="10972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4" name="Text 22"/>
          <p:cNvSpPr/>
          <p:nvPr/>
        </p:nvSpPr>
        <p:spPr>
          <a:xfrm>
            <a:off x="8618220" y="4151376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79876" y="4370832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Risk*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494276" y="4411980"/>
            <a:ext cx="4069080" cy="109728"/>
          </a:xfrm>
          <a:prstGeom prst="rect">
            <a:avLst/>
          </a:prstGeom>
          <a:solidFill>
            <a:srgbClr val="EDEFEC"/>
          </a:solidFill>
          <a:ln/>
        </p:spPr>
      </p:sp>
      <p:sp>
        <p:nvSpPr>
          <p:cNvPr id="27" name="Shape 25"/>
          <p:cNvSpPr/>
          <p:nvPr/>
        </p:nvSpPr>
        <p:spPr>
          <a:xfrm>
            <a:off x="4494276" y="4411980"/>
            <a:ext cx="1627632" cy="10972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8" name="Text 26"/>
          <p:cNvSpPr/>
          <p:nvPr/>
        </p:nvSpPr>
        <p:spPr>
          <a:xfrm>
            <a:off x="8618220" y="4370832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579876" y="466344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Overall: </a:t>
            </a:r>
            <a:pPr indent="0" marL="0">
              <a:buNone/>
            </a:pPr>
            <a:r>
              <a:rPr lang="en-US" sz="14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3.65 / 5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579876" y="4992624"/>
            <a:ext cx="5029200" cy="1298448"/>
          </a:xfrm>
          <a:prstGeom prst="rect">
            <a:avLst>
              <a:gd name="adj" fmla="val 3521"/>
            </a:avLst>
          </a:prstGeom>
          <a:solidFill>
            <a:srgbClr val="F4F6F4"/>
          </a:solidFill>
          <a:ln/>
        </p:spPr>
      </p:sp>
      <p:sp>
        <p:nvSpPr>
          <p:cNvPr id="31" name="Text 29"/>
          <p:cNvSpPr/>
          <p:nvPr/>
        </p:nvSpPr>
        <p:spPr>
          <a:xfrm>
            <a:off x="3717036" y="508406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F5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717036" y="5303520"/>
            <a:ext cx="475488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Proceed as a Phase 2 strategic build. Largest single benefit case but touches Neolink, Geneva and the NAV control pack — sequence behind system-integration readiness. An agent-based reference architecture (ingest → validate → 4-eye → Geneva post → control pack) has already been prototyped in-house and can seed delivery.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BNP Paribas – Liquid Alternatives  |  AI Use Case Portfolio Review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Cross-Cutting Insight: Build Once, Reuse Twice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UC-004 and UC-023 both need the same underlying capability — sequencing them together avoids duplicated build cost.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291840" cy="2103120"/>
          </a:xfrm>
          <a:prstGeom prst="rect">
            <a:avLst>
              <a:gd name="adj" fmla="val 2609"/>
            </a:avLst>
          </a:prstGeom>
          <a:solidFill>
            <a:srgbClr val="F4F6F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01168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Invoice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01752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Needs: document ingest → OCR → LLM field extraction → validation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474720" cy="2377440"/>
          </a:xfrm>
          <a:prstGeom prst="rect">
            <a:avLst>
              <a:gd name="adj" fmla="val 2308"/>
            </a:avLst>
          </a:prstGeom>
          <a:solidFill>
            <a:srgbClr val="1F5F45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874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FE0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SERVICE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0" y="219456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Extraction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8EC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+ LLM extraction, schema-validated output, human-in-the-loop verification gate — one component, two consumers.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321040" y="1828800"/>
            <a:ext cx="3291840" cy="2103120"/>
          </a:xfrm>
          <a:prstGeom prst="rect">
            <a:avLst>
              <a:gd name="adj" fmla="val 2609"/>
            </a:avLst>
          </a:prstGeom>
          <a:solidFill>
            <a:srgbClr val="F4F6F4"/>
          </a:solidFill>
          <a:ln/>
        </p:spPr>
      </p:sp>
      <p:sp>
        <p:nvSpPr>
          <p:cNvPr id="13" name="Text 11"/>
          <p:cNvSpPr/>
          <p:nvPr/>
        </p:nvSpPr>
        <p:spPr>
          <a:xfrm>
            <a:off x="8549640" y="201168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UC-023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49640" y="22860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KYC Document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49640" y="301752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Needs: document ingest → OCR → LLM field extraction → GRID file build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86200" y="2761488"/>
            <a:ext cx="411480" cy="237744"/>
          </a:xfrm>
          <a:prstGeom prst="rightArrow">
            <a:avLst/>
          </a:prstGeom>
          <a:solidFill>
            <a:srgbClr val="50594F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0" y="2761488"/>
            <a:ext cx="411480" cy="237744"/>
          </a:xfrm>
          <a:prstGeom prst="rightArrow">
            <a:avLst/>
          </a:prstGeom>
          <a:solidFill>
            <a:srgbClr val="50594F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3434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pattern common to all five use cases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709160"/>
            <a:ext cx="11064240" cy="1463040"/>
          </a:xfrm>
          <a:prstGeom prst="rect">
            <a:avLst>
              <a:gd name="adj" fmla="val 3125"/>
            </a:avLst>
          </a:prstGeom>
          <a:solidFill>
            <a:srgbClr val="F4F6F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86460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E8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 retained at every control point (4-eye review, maker-checker, final release) — AI drafts, people decide.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5266944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E8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use case removes an existing regulatory or reconciliation control; each automates the manual steps that feed into it.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" y="5669280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E8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UC-024 needs no shared service — it's a self-contained rule-based calculation on data already in NTAS, which is why it scores as the simplest use case to govern.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BNP Paribas – Liquid Alternatives  |  AI Use Case Portfolio Review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Parked Portfolio (19 use cases)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rejection — most are blocked by dependencies outside this team, not by feasibility.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41732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DE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64792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D5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68680" y="244144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057400" y="17373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by external / group dependency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57400" y="2103120"/>
            <a:ext cx="4206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UC-001, UC-002, UC-005, UC-007, UC-012, UC-013, UC-014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46520" y="1737360"/>
            <a:ext cx="4937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 on programmes outside this team's control (RECAP, Fenergo/Doc Factory, HOBART, LCM/KURE, Combo rollout). Track and re-assess as each lands.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182112"/>
            <a:ext cx="11064240" cy="141732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D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346704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79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68680" y="40233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331927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Broader transformation, not AI-led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057400" y="3685032"/>
            <a:ext cx="4206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UC-006, UC-008, UC-011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46520" y="3319272"/>
            <a:ext cx="4937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warehouse, client reporting and payments work is real, but the primary lever is process/industrial redesign — AI is a secondary enabler once the base is built.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764024"/>
            <a:ext cx="11064240" cy="141732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DE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928616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68680" y="560527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57400" y="4901184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yet scoped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057400" y="5266944"/>
            <a:ext cx="4206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UC-003, UC-009, UC-010, UC-015, UC-016, UC-017, UC-018, UC-019, UC-020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46520" y="4901184"/>
            <a:ext cx="4937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Marked ‘to be discussed / elaborated in coming workshop’ or lack sufficient detail to assess. Candidates for the next scoping workshop.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BNP Paribas – Liquid Alternatives  |  AI Use Case Portfolio Review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05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5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5F4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Roadmap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4937760"/>
          </a:xfrm>
          <a:prstGeom prst="rect">
            <a:avLst>
              <a:gd name="adj" fmla="val 1538"/>
            </a:avLst>
          </a:prstGeom>
          <a:solidFill>
            <a:srgbClr val="1A503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0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90195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Wins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BFE0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UC-024 – FTE calculations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063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BFE0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UC-022 – Trade file processing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36118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BFE0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UC-021 – Security callback scripts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4297680"/>
            <a:ext cx="3017520" cy="0"/>
          </a:xfrm>
          <a:prstGeom prst="line">
            <a:avLst/>
          </a:prstGeom>
          <a:noFill/>
          <a:ln w="12700">
            <a:solidFill>
              <a:srgbClr val="2E7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48056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9FC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and deploy — no blockers, no cross-system dependency.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97680" y="1371600"/>
            <a:ext cx="3566160" cy="4937760"/>
          </a:xfrm>
          <a:prstGeom prst="rect">
            <a:avLst>
              <a:gd name="adj" fmla="val 1538"/>
            </a:avLst>
          </a:prstGeom>
          <a:solidFill>
            <a:srgbClr val="1A5039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6002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0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0" y="190195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Priority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72000" y="2514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BFE0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UC-023 – KYC document processing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0" y="3063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BFE0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UC-004 – Invoice payment processing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0" y="3749040"/>
            <a:ext cx="3017520" cy="0"/>
          </a:xfrm>
          <a:prstGeom prst="line">
            <a:avLst/>
          </a:prstGeom>
          <a:noFill/>
          <a:ln w="12700">
            <a:solidFill>
              <a:srgbClr val="2E7A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3931920"/>
            <a:ext cx="30175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9FC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the shared extraction service first; sequence UC-004 behind Neolink/Geneva/NAV control pack integration confirmation.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046720" y="1371600"/>
            <a:ext cx="3566160" cy="4937760"/>
          </a:xfrm>
          <a:prstGeom prst="rect">
            <a:avLst>
              <a:gd name="adj" fmla="val 1538"/>
            </a:avLst>
          </a:prstGeom>
          <a:solidFill>
            <a:srgbClr val="1A5039"/>
          </a:solidFill>
          <a:ln/>
        </p:spPr>
      </p:sp>
      <p:sp>
        <p:nvSpPr>
          <p:cNvPr id="20" name="Text 18"/>
          <p:cNvSpPr/>
          <p:nvPr/>
        </p:nvSpPr>
        <p:spPr>
          <a:xfrm>
            <a:off x="8321040" y="16002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0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21040" y="190195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Parked Portfolio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21040" y="2514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BFE0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7 blocked use cases against owning programmes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321040" y="3063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BFE0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Re-score 9 unscoped use cases at next workshop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321040" y="3749040"/>
            <a:ext cx="3017520" cy="0"/>
          </a:xfrm>
          <a:prstGeom prst="line">
            <a:avLst/>
          </a:prstGeom>
          <a:noFill/>
          <a:ln w="12700">
            <a:solidFill>
              <a:srgbClr val="2E7A5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0" y="3931920"/>
            <a:ext cx="30175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9FC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review — re-enter the pipeline once dependencies clear.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C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BNP Paribas – Liquid Alternatives  |  AI Use Case Portfolio Review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C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Use Case Portfolio Review</dc:title>
  <dc:subject>PptxGenJS Presentation</dc:subject>
  <dc:creator>Rana Das</dc:creator>
  <cp:lastModifiedBy>Rana Das</cp:lastModifiedBy>
  <cp:revision>1</cp:revision>
  <dcterms:created xsi:type="dcterms:W3CDTF">2026-08-11T05:43:56Z</dcterms:created>
  <dcterms:modified xsi:type="dcterms:W3CDTF">2026-08-11T05:43:56Z</dcterms:modified>
</cp:coreProperties>
</file>