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SOFTWARE PROJECT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468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7D5F1"/>
                </a:solidFill>
              </a:defRPr>
            </a:pPr>
            <a:r>
              <a:t>MANAGEMENT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2194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TOTAL ESTIMATE</a:t>
            </a:r>
          </a:p>
          <a:p>
            <a:pPr>
              <a:defRPr sz="2200" b="1">
                <a:solidFill>
                  <a:srgbClr val="142B4A"/>
                </a:solidFill>
              </a:defRPr>
            </a:pPr>
            <a:r>
              <a:t>€129K</a:t>
            </a:r>
          </a:p>
          <a:p>
            <a:pPr>
              <a:defRPr sz="900">
                <a:solidFill>
                  <a:srgbClr val="6E7882"/>
                </a:solidFill>
              </a:defRPr>
            </a:pPr>
            <a:r>
              <a:t>incl. 15% contingency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43000"/>
            <a:ext cx="2194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DELIVERY</a:t>
            </a:r>
          </a:p>
          <a:p>
            <a:pPr>
              <a:defRPr sz="2200" b="1">
                <a:solidFill>
                  <a:srgbClr val="142B4A"/>
                </a:solidFill>
              </a:defRPr>
            </a:pPr>
            <a:r>
              <a:t>14 Weeks</a:t>
            </a:r>
          </a:p>
          <a:p>
            <a:pPr>
              <a:defRPr sz="900">
                <a:solidFill>
                  <a:srgbClr val="6E7882"/>
                </a:solidFill>
              </a:defRPr>
            </a:pPr>
            <a:r>
              <a:t>approval to go-live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143000"/>
            <a:ext cx="2194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EFFORT</a:t>
            </a:r>
          </a:p>
          <a:p>
            <a:pPr>
              <a:defRPr sz="2200" b="1">
                <a:solidFill>
                  <a:srgbClr val="142B4A"/>
                </a:solidFill>
              </a:defRPr>
            </a:pPr>
            <a:r>
              <a:t>140 Days</a:t>
            </a:r>
          </a:p>
          <a:p>
            <a:pPr>
              <a:defRPr sz="900">
                <a:solidFill>
                  <a:srgbClr val="6E7882"/>
                </a:solidFill>
              </a:defRPr>
            </a:pPr>
            <a:r>
              <a:t>estimated team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43000"/>
            <a:ext cx="3840480" cy="1051560"/>
          </a:xfrm>
          <a:prstGeom prst="roundRect">
            <a:avLst/>
          </a:prstGeom>
          <a:solidFill>
            <a:srgbClr val="E5F5EE"/>
          </a:solidFill>
          <a:ln>
            <a:solidFill>
              <a:srgbClr val="61A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7852"/>
                </a:solidFill>
              </a:defRPr>
            </a:pPr>
            <a:r>
              <a:t>DECISION REQUIRED</a:t>
            </a:r>
          </a:p>
          <a:p>
            <a:pPr>
              <a:defRPr sz="2000" b="1">
                <a:solidFill>
                  <a:srgbClr val="19593D"/>
                </a:solidFill>
              </a:defRPr>
            </a:pPr>
            <a:r>
              <a:t>Approve €129K budget</a:t>
            </a:r>
          </a:p>
          <a:p>
            <a:pPr>
              <a:defRPr sz="900">
                <a:solidFill>
                  <a:srgbClr val="37644B"/>
                </a:solidFill>
              </a:defRPr>
            </a:pPr>
            <a:r>
              <a:t>Authorize development &amp;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87168"/>
            <a:ext cx="55778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ESTIMATE BREAKDOWN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3063240"/>
          <a:ext cx="5074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60120"/>
                <a:gridCol w="1143000"/>
              </a:tblGrid>
              <a:tr h="3069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2B4A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2B4A"/>
                          </a:solidFill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2B4A"/>
                          </a:solidFill>
                        </a:defRPr>
                      </a:pPr>
                      <a:r>
                        <a:t>Estimate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Requirements &amp; Solution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15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€12K</a:t>
                      </a:r>
                    </a:p>
                  </a:txBody>
                  <a:tcPr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Application Development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65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€52K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Integration /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25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€20K</a:t>
                      </a:r>
                    </a:p>
                  </a:txBody>
                  <a:tcPr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Testing &amp; UAT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25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€20K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Deployment &amp; Hypercare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€8K</a:t>
                      </a:r>
                    </a:p>
                  </a:txBody>
                  <a:tcPr/>
                </a:tc>
              </a:tr>
              <a:tr h="30697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Contingency (15%)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23C46"/>
                          </a:solidFill>
                        </a:defRPr>
                      </a:pPr>
                      <a:r>
                        <a:t>€17K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9360" y="2487168"/>
            <a:ext cx="53492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A"/>
                </a:solidFill>
              </a:defRPr>
            </a:pPr>
            <a:r>
              <a:t>DELIVERY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3090672"/>
            <a:ext cx="731520" cy="640080"/>
          </a:xfrm>
          <a:prstGeom prst="roundRect">
            <a:avLst/>
          </a:prstGeom>
          <a:solidFill>
            <a:srgbClr val="E5EDF7"/>
          </a:solidFill>
          <a:ln>
            <a:solidFill>
              <a:srgbClr val="91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Req.</a:t>
            </a:r>
          </a:p>
          <a:p>
            <a:pPr algn="ctr">
              <a:defRPr sz="900"/>
            </a:pPr>
            <a:r>
              <a:t>2w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090672"/>
            <a:ext cx="731520" cy="640080"/>
          </a:xfrm>
          <a:prstGeom prst="roundRect">
            <a:avLst/>
          </a:prstGeom>
          <a:solidFill>
            <a:srgbClr val="E5EDF7"/>
          </a:solidFill>
          <a:ln>
            <a:solidFill>
              <a:srgbClr val="91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Design</a:t>
            </a:r>
          </a:p>
          <a:p>
            <a:pPr algn="ctr">
              <a:defRPr sz="900"/>
            </a:pPr>
            <a:r>
              <a:t>2w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3090672"/>
            <a:ext cx="1508760" cy="640080"/>
          </a:xfrm>
          <a:prstGeom prst="roundRect">
            <a:avLst/>
          </a:prstGeom>
          <a:solidFill>
            <a:srgbClr val="E5EDF7"/>
          </a:solidFill>
          <a:ln>
            <a:solidFill>
              <a:srgbClr val="91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Build</a:t>
            </a:r>
          </a:p>
          <a:p>
            <a:pPr algn="ctr">
              <a:defRPr sz="900"/>
            </a:pPr>
            <a:r>
              <a:t>6w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66376" y="3090672"/>
            <a:ext cx="1051560" cy="640080"/>
          </a:xfrm>
          <a:prstGeom prst="roundRect">
            <a:avLst/>
          </a:prstGeom>
          <a:solidFill>
            <a:srgbClr val="E5EDF7"/>
          </a:solidFill>
          <a:ln>
            <a:solidFill>
              <a:srgbClr val="91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Test/UAT</a:t>
            </a:r>
          </a:p>
          <a:p>
            <a:pPr algn="ctr">
              <a:defRPr sz="900"/>
            </a:pPr>
            <a:r>
              <a:t>3w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27663" y="3090672"/>
            <a:ext cx="640080" cy="640080"/>
          </a:xfrm>
          <a:prstGeom prst="roundRect">
            <a:avLst/>
          </a:prstGeom>
          <a:solidFill>
            <a:srgbClr val="E5EDF7"/>
          </a:solidFill>
          <a:ln>
            <a:solidFill>
              <a:srgbClr val="91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Go-Live</a:t>
            </a:r>
          </a:p>
          <a:p>
            <a:pPr algn="ctr">
              <a:defRPr sz="900"/>
            </a:pPr>
            <a:r>
              <a:t>1w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977639"/>
            <a:ext cx="46634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C4650"/>
                </a:solidFill>
              </a:defRPr>
            </a:pPr>
            <a:r>
              <a:t>• Resource plan: PM • BA • 2 Developers • QA • DevOps support</a:t>
            </a:r>
          </a:p>
          <a:p>
            <a:pPr>
              <a:spcAft>
                <a:spcPts val="500"/>
              </a:spcAft>
              <a:defRPr sz="1000">
                <a:solidFill>
                  <a:srgbClr val="3C4650"/>
                </a:solidFill>
              </a:defRPr>
            </a:pPr>
            <a:r>
              <a:t>• Assumption: existing infrastructure will be reused</a:t>
            </a:r>
          </a:p>
          <a:p>
            <a:pPr>
              <a:spcAft>
                <a:spcPts val="500"/>
              </a:spcAft>
              <a:defRPr sz="1000">
                <a:solidFill>
                  <a:srgbClr val="3C4650"/>
                </a:solidFill>
              </a:defRPr>
            </a:pPr>
            <a:r>
              <a:t>• Assumption: business SMEs are available for UAT</a:t>
            </a:r>
          </a:p>
          <a:p>
            <a:pPr>
              <a:spcAft>
                <a:spcPts val="500"/>
              </a:spcAft>
              <a:defRPr sz="1000">
                <a:solidFill>
                  <a:srgbClr val="3C4650"/>
                </a:solidFill>
              </a:defRPr>
            </a:pPr>
            <a:r>
              <a:t>• Risk: scope change or third-party integration may affect estimate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064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B4A"/>
                </a:solidFill>
              </a:defRPr>
            </a:pPr>
            <a:r>
              <a:t>Approval requested: proceed with detailed planning, development and implementation within the approved €129K envelope.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