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CADCF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Base estimate</c:v>
                </c:pt>
                <c:pt idx="1">
                  <c:v>Contingency (15%)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423</c:v>
                </c:pt>
                <c:pt idx="1">
                  <c:v>63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50">
              <a:solidFill>
                <a:srgbClr val="5B6584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11000232" y="-822960"/>
            <a:ext cx="1828800" cy="1828800"/>
          </a:xfrm>
          <a:prstGeom prst="ellipse">
            <a:avLst/>
          </a:prstGeom>
          <a:solidFill>
            <a:srgbClr val="CADCFC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118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PROJECT ESTIMATE  •  FOR MANAGEMENT APPROVAL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3657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Management Platform Upgrade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863840" y="1828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Rana Das  </a:t>
            </a:r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Head of Engineering &amp; AI Strategy, Liquid Alternatives  |  21 Sep 2026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2170786" cy="713232"/>
          </a:xfrm>
          <a:prstGeom prst="roundRect">
            <a:avLst>
              <a:gd name="adj" fmla="val 7692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21208" y="1170432"/>
            <a:ext cx="19513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EFFORT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521208" y="1371600"/>
            <a:ext cx="19513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612 p-days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710282" y="1097280"/>
            <a:ext cx="2170786" cy="713232"/>
          </a:xfrm>
          <a:prstGeom prst="roundRect">
            <a:avLst>
              <a:gd name="adj" fmla="val 7692"/>
            </a:avLst>
          </a:prstGeom>
          <a:solidFill>
            <a:srgbClr val="F4F6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820010" y="1170432"/>
            <a:ext cx="19513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2820010" y="1371600"/>
            <a:ext cx="19513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weeks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009083" y="1097280"/>
            <a:ext cx="2170786" cy="713232"/>
          </a:xfrm>
          <a:prstGeom prst="roundRect">
            <a:avLst>
              <a:gd name="adj" fmla="val 7692"/>
            </a:avLst>
          </a:prstGeom>
          <a:solidFill>
            <a:srgbClr val="F4F6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18811" y="1170432"/>
            <a:ext cx="19513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5118811" y="1371600"/>
            <a:ext cx="19513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€486K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307885" y="1097280"/>
            <a:ext cx="2170786" cy="713232"/>
          </a:xfrm>
          <a:prstGeom prst="roundRect">
            <a:avLst>
              <a:gd name="adj" fmla="val 7692"/>
            </a:avLst>
          </a:prstGeom>
          <a:solidFill>
            <a:srgbClr val="F4F6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17613" y="1170432"/>
            <a:ext cx="19513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7417613" y="1371600"/>
            <a:ext cx="19513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 2027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9606686" y="1097280"/>
            <a:ext cx="2170786" cy="713232"/>
          </a:xfrm>
          <a:prstGeom prst="roundRect">
            <a:avLst>
              <a:gd name="adj" fmla="val 7692"/>
            </a:avLst>
          </a:prstGeom>
          <a:solidFill>
            <a:srgbClr val="F4F6F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716414" y="1170432"/>
            <a:ext cx="19513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PEAK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9716414" y="1371600"/>
            <a:ext cx="19513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FTE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11480" y="1993392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BY PHASE</a:t>
            </a:r>
            <a:endParaRPr lang="en-US" sz="10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67712"/>
          <a:ext cx="6309360" cy="1965960"/>
        </p:xfrm>
        <a:graphic>
          <a:graphicData uri="http://schemas.openxmlformats.org/drawingml/2006/table">
            <a:tbl>
              <a:tblPr/>
              <a:tblGrid>
                <a:gridCol w="2834640"/>
                <a:gridCol w="1051560"/>
                <a:gridCol w="960120"/>
                <a:gridCol w="1463040"/>
              </a:tblGrid>
              <a:tr h="2459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(€)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459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 &amp; Design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59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Platform Build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59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(NAV/Recon)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59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&amp; QA Hardening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59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UAT &amp; Cut-over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59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Hypercare (post go-live)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59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486,000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24" name="Text 21"/>
          <p:cNvSpPr txBox="1"/>
          <p:nvPr/>
        </p:nvSpPr>
        <p:spPr>
          <a:xfrm>
            <a:off x="411480" y="4434840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(22 WEEKS)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11480" y="4736592"/>
            <a:ext cx="728003" cy="384048"/>
          </a:xfrm>
          <a:prstGeom prst="rect">
            <a:avLst/>
          </a:prstGeom>
          <a:solidFill>
            <a:srgbClr val="8592C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11480" y="4736592"/>
            <a:ext cx="7280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1139483" y="4736592"/>
            <a:ext cx="2184009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39483" y="4736592"/>
            <a:ext cx="21840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3323492" y="4736592"/>
            <a:ext cx="1213338" cy="384048"/>
          </a:xfrm>
          <a:prstGeom prst="rect">
            <a:avLst/>
          </a:prstGeom>
          <a:solidFill>
            <a:srgbClr val="3C4A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323492" y="4736592"/>
            <a:ext cx="12133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4536831" y="4736592"/>
            <a:ext cx="970671" cy="384048"/>
          </a:xfrm>
          <a:prstGeom prst="rect">
            <a:avLst/>
          </a:prstGeom>
          <a:solidFill>
            <a:srgbClr val="5C6B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536831" y="4736592"/>
            <a:ext cx="970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Test/QA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5507502" y="4736592"/>
            <a:ext cx="728003" cy="384048"/>
          </a:xfrm>
          <a:prstGeom prst="rect">
            <a:avLst/>
          </a:prstGeom>
          <a:solidFill>
            <a:srgbClr val="D98E0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507502" y="4736592"/>
            <a:ext cx="7280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6235505" y="4736592"/>
            <a:ext cx="485335" cy="384048"/>
          </a:xfrm>
          <a:prstGeom prst="rect">
            <a:avLst/>
          </a:prstGeom>
          <a:solidFill>
            <a:srgbClr val="2E9E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11480" y="51480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0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5989320" y="51480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22</a:t>
            </a:r>
            <a:endParaRPr lang="en-US" sz="800" dirty="0"/>
          </a:p>
        </p:txBody>
      </p:sp>
      <p:sp>
        <p:nvSpPr>
          <p:cNvPr id="38" name="Text 35"/>
          <p:cNvSpPr txBox="1"/>
          <p:nvPr/>
        </p:nvSpPr>
        <p:spPr>
          <a:xfrm>
            <a:off x="6995160" y="1993392"/>
            <a:ext cx="4782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RISKS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6995160" y="2267712"/>
            <a:ext cx="4782312" cy="475488"/>
          </a:xfrm>
          <a:prstGeom prst="roundRect">
            <a:avLst>
              <a:gd name="adj" fmla="val 9615"/>
            </a:avLst>
          </a:prstGeom>
          <a:solidFill>
            <a:srgbClr val="F4F6FB"/>
          </a:solidFill>
          <a:ln/>
        </p:spPr>
      </p:sp>
      <p:sp>
        <p:nvSpPr>
          <p:cNvPr id="40" name="Shape 37"/>
          <p:cNvSpPr/>
          <p:nvPr/>
        </p:nvSpPr>
        <p:spPr>
          <a:xfrm>
            <a:off x="6995160" y="2267712"/>
            <a:ext cx="54864" cy="475488"/>
          </a:xfrm>
          <a:prstGeom prst="rect">
            <a:avLst/>
          </a:prstGeom>
          <a:solidFill>
            <a:srgbClr val="C1443C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7159752" y="2295144"/>
            <a:ext cx="3776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mainframe feed format undocumented</a:t>
            </a:r>
            <a:endParaRPr lang="en-US" sz="900" dirty="0"/>
          </a:p>
        </p:txBody>
      </p:sp>
      <p:sp>
        <p:nvSpPr>
          <p:cNvPr id="42" name="Text 39"/>
          <p:cNvSpPr txBox="1"/>
          <p:nvPr/>
        </p:nvSpPr>
        <p:spPr>
          <a:xfrm>
            <a:off x="11000232" y="2295144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6995160" y="2834640"/>
            <a:ext cx="4782312" cy="475488"/>
          </a:xfrm>
          <a:prstGeom prst="roundRect">
            <a:avLst>
              <a:gd name="adj" fmla="val 9615"/>
            </a:avLst>
          </a:prstGeom>
          <a:solidFill>
            <a:srgbClr val="F4F6FB"/>
          </a:solidFill>
          <a:ln/>
        </p:spPr>
      </p:sp>
      <p:sp>
        <p:nvSpPr>
          <p:cNvPr id="44" name="Shape 41"/>
          <p:cNvSpPr/>
          <p:nvPr/>
        </p:nvSpPr>
        <p:spPr>
          <a:xfrm>
            <a:off x="6995160" y="2834640"/>
            <a:ext cx="54864" cy="475488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7159752" y="2862072"/>
            <a:ext cx="3776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team availability for integration testing</a:t>
            </a:r>
            <a:endParaRPr lang="en-US" sz="900" dirty="0"/>
          </a:p>
        </p:txBody>
      </p:sp>
      <p:sp>
        <p:nvSpPr>
          <p:cNvPr id="46" name="Text 43"/>
          <p:cNvSpPr txBox="1"/>
          <p:nvPr/>
        </p:nvSpPr>
        <p:spPr>
          <a:xfrm>
            <a:off x="11000232" y="2862072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995160" y="3401568"/>
            <a:ext cx="4782312" cy="475488"/>
          </a:xfrm>
          <a:prstGeom prst="roundRect">
            <a:avLst>
              <a:gd name="adj" fmla="val 9615"/>
            </a:avLst>
          </a:prstGeom>
          <a:solidFill>
            <a:srgbClr val="F4F6FB"/>
          </a:solidFill>
          <a:ln/>
        </p:spPr>
      </p:sp>
      <p:sp>
        <p:nvSpPr>
          <p:cNvPr id="48" name="Shape 45"/>
          <p:cNvSpPr/>
          <p:nvPr/>
        </p:nvSpPr>
        <p:spPr>
          <a:xfrm>
            <a:off x="6995160" y="3401568"/>
            <a:ext cx="54864" cy="475488"/>
          </a:xfrm>
          <a:prstGeom prst="rect">
            <a:avLst/>
          </a:prstGeom>
          <a:solidFill>
            <a:srgbClr val="C1443C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7159752" y="3429000"/>
            <a:ext cx="3776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sign-off timeline (change mgmt)</a:t>
            </a:r>
            <a:endParaRPr lang="en-US" sz="900" dirty="0"/>
          </a:p>
        </p:txBody>
      </p:sp>
      <p:sp>
        <p:nvSpPr>
          <p:cNvPr id="50" name="Text 47"/>
          <p:cNvSpPr txBox="1"/>
          <p:nvPr/>
        </p:nvSpPr>
        <p:spPr>
          <a:xfrm>
            <a:off x="11000232" y="342900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51" name="Text 48"/>
          <p:cNvSpPr txBox="1"/>
          <p:nvPr/>
        </p:nvSpPr>
        <p:spPr>
          <a:xfrm>
            <a:off x="6995160" y="3977640"/>
            <a:ext cx="4782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BREAKDOWN</a:t>
            </a:r>
            <a:endParaRPr lang="en-US" sz="1050" dirty="0"/>
          </a:p>
        </p:txBody>
      </p:sp>
      <p:graphicFrame>
        <p:nvGraphicFramePr>
          <p:cNvPr id="52" name="Chart 0" descr=""/>
          <p:cNvGraphicFramePr/>
          <p:nvPr/>
        </p:nvGraphicFramePr>
        <p:xfrm>
          <a:off x="6995160" y="4224528"/>
          <a:ext cx="4782312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3" name="Shape 49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4" name="Text 50"/>
          <p:cNvSpPr txBox="1"/>
          <p:nvPr/>
        </p:nvSpPr>
        <p:spPr>
          <a:xfrm>
            <a:off x="411480" y="6355080"/>
            <a:ext cx="11365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€486K &amp; 6 FTE for 22 weeks  |  </a:t>
            </a:r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sprint 0 within 5 business days of sign-off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BNP Paribas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Project Estimate — One Pager</dc:title>
  <dc:subject>PptxGenJS Presentation</dc:subject>
  <dc:creator>Rana Das</dc:creator>
  <cp:lastModifiedBy>Rana Das</cp:lastModifiedBy>
  <cp:revision>1</cp:revision>
  <dcterms:created xsi:type="dcterms:W3CDTF">2026-09-21T21:13:58Z</dcterms:created>
  <dcterms:modified xsi:type="dcterms:W3CDTF">2026-09-21T21:13:58Z</dcterms:modified>
</cp:coreProperties>
</file>